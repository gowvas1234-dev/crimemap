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5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84C"/>
                </a:solidFill>
                <a:latin typeface="Arial"/>
              </a:defRPr>
            </a:pPr>
            <a:r>
              <a:t>★ OFFICIAL LAW ENFORCEMENT INTELLIGENCE SYSTEM ★</a:t>
            </a:r>
          </a:p>
          <a:p>
            <a:pPr algn="ctr">
              <a:spcBef>
                <a:spcPts val="1600"/>
              </a:spcBef>
              <a:defRPr sz="5400" b="1">
                <a:solidFill>
                  <a:srgbClr val="FFFFFF"/>
                </a:solidFill>
                <a:latin typeface="Arial Black"/>
              </a:defRPr>
            </a:pPr>
            <a:r>
              <a:t>CRIMEMAP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C8D6E5"/>
                </a:solidFill>
                <a:latin typeface="Arial"/>
              </a:defRPr>
            </a:pPr>
            <a:r>
              <a:t>Geospatial Crime Intelligence, Patrol Dispatch &amp; Operational Decision Support</a:t>
            </a:r>
          </a:p>
          <a:p>
            <a:pPr algn="ctr">
              <a:spcBef>
                <a:spcPts val="1400"/>
              </a:spcBef>
              <a:defRPr sz="1400">
                <a:solidFill>
                  <a:srgbClr val="E0CA7A"/>
                </a:solidFill>
                <a:latin typeface="Arial"/>
              </a:defRPr>
            </a:pPr>
            <a:r>
              <a:t>Puducherry Police Department • Command &amp; Control Center</a:t>
            </a:r>
          </a:p>
          <a:p>
            <a:pPr algn="ctr">
              <a:spcBef>
                <a:spcPts val="2800"/>
              </a:spcBef>
              <a:defRPr sz="1100" b="1">
                <a:solidFill>
                  <a:srgbClr val="2563EB"/>
                </a:solidFill>
                <a:latin typeface="Courier New"/>
              </a:defRPr>
            </a:pPr>
            <a:r>
              <a:t>Live Deployment: https://crimemapp.vercel.app/   |   Local Dev: http://localhost:5173/</a:t>
            </a:r>
          </a:p>
          <a:p>
            <a:pPr algn="ctr">
              <a:spcBef>
                <a:spcPts val="1000"/>
              </a:spcBef>
              <a:defRPr sz="1100">
                <a:solidFill>
                  <a:srgbClr val="8B9CB8"/>
                </a:solidFill>
                <a:latin typeface="Arial"/>
              </a:defRPr>
            </a:pPr>
            <a:r>
              <a:t>Stack: React 19 • TypeScript • Vite • Leaflet GIS • Tailwind CSS • Explainable Deterministic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Operational Platform Architecture &amp;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2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01. Authentication &amp; Role Security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Multi-role login with badge ID, division routing &amp; 3 demo roles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02. Command Dashboard &amp; Most Wanted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Real-time KPIs, FBI CDE-style analysis &amp; High-Value Target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03. Crime Trends &amp; Interactive Map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GIS heatmaps, police station markers, 3 risk tiers &amp; active patrol GPS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78892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8803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04. Risk Zones &amp; Recommended Actions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6-factor deterministic scoring, peak temporal windows &amp; tactical orders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05. Intelligence &amp; AI Query Assistant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Explainable natural language interrogation of incidents &amp; patterns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02336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114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06. Patrol Simulation (Core Engine)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★ Deterministic round-robin unit dispatch, live speed control &amp; routes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07. Police Stations &amp; Jurisdictions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11 mapped stations with coordinates, sub-jurisdictions &amp; rapid focus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257800"/>
            <a:ext cx="5120640" cy="109728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5349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08. Reports, Verification &amp; Export</a:t>
            </a:r>
          </a:p>
          <a:p>
            <a:pPr>
              <a:spcBef>
                <a:spcPts val="400"/>
              </a:spcBef>
              <a:defRPr sz="1000">
                <a:solidFill>
                  <a:srgbClr val="8B9CB8"/>
                </a:solidFill>
                <a:latin typeface="Arial"/>
              </a:defRPr>
            </a:pPr>
            <a:r>
              <a:t>Official audit CSV exports (incidents, zones, signals) &amp; PDF print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1. Secure Login &amp; Role-Based Police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3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TACTICAL ACCESS CONTROL SYSTEM</a:t>
            </a:r>
          </a:p>
          <a:p>
            <a:pPr>
              <a:spcBef>
                <a:spcPts val="12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Official Department Portal: Strict verification screen with badge ID, police division drop-down and secure PIN authentication.</a:t>
            </a:r>
          </a:p>
          <a:p>
            <a:pPr>
              <a:spcBef>
                <a:spcPts val="12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Multi-Tier Access Permissions: Segregated privileges for field patrol units, station investigators, and cyber crime intelligence.</a:t>
            </a:r>
          </a:p>
          <a:p>
            <a:pPr>
              <a:spcBef>
                <a:spcPts val="12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6 Station Divisions Supported: Central (Grand Bazaar), East (Lawspet), West (Villianur), South (Ariyankuppam), Cyber Crime Cell &amp; PCR Command Center.</a:t>
            </a:r>
          </a:p>
          <a:p>
            <a:pPr>
              <a:spcBef>
                <a:spcPts val="12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Operational Theme Switching: High-contrast tactical Dark Mode for night patrol operations and Day Mode for administrative lighting.</a:t>
            </a:r>
          </a:p>
          <a:p>
            <a:pPr>
              <a:spcBef>
                <a:spcPts val="12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Security Hardened Defaults: Session tracking, credential validation feedback, and automated lockouts for unauthorized badge attempts.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PRE-CONFIGURED POLICE CREDENTIALS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★ INSPECTOR R. KUMAR [PY-POL-4082]</a:t>
            </a:r>
          </a:p>
          <a:p>
            <a:pPr>
              <a:spcBef>
                <a:spcPts val="200"/>
              </a:spcBef>
              <a:defRPr sz="950">
                <a:solidFill>
                  <a:srgbClr val="8B9CB8"/>
                </a:solidFill>
                <a:latin typeface="Courier New"/>
              </a:defRPr>
            </a:pPr>
            <a:r>
              <a:t>   Role: Senior Crime Investigator  |  Dept: Crime Branch CID</a:t>
            </a:r>
            <a:br/>
            <a:r>
              <a:t>   Base: Central Division (Grand Bazaar PS)</a:t>
            </a:r>
            <a:br/>
            <a:r>
              <a:t>   Demo Passcode: CrimeMap@2026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★ SUB-INSPECTOR S. ANITHA [PY-POL-1104]</a:t>
            </a:r>
          </a:p>
          <a:p>
            <a:pPr>
              <a:spcBef>
                <a:spcPts val="200"/>
              </a:spcBef>
              <a:defRPr sz="950">
                <a:solidFill>
                  <a:srgbClr val="8B9CB8"/>
                </a:solidFill>
                <a:latin typeface="Courier New"/>
              </a:defRPr>
            </a:pPr>
            <a:r>
              <a:t>   Role: Patrol Dispatch Lead  |  Dept: Field Tactical Unit</a:t>
            </a:r>
            <a:br/>
            <a:r>
              <a:t>   Base: East Division (Lawspet PS)</a:t>
            </a:r>
            <a:br/>
            <a:r>
              <a:t>   Demo Passcode: Patrol@2026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★ ANALYST M. VASANTH [PY-CYBER-7721]</a:t>
            </a:r>
          </a:p>
          <a:p>
            <a:pPr>
              <a:spcBef>
                <a:spcPts val="200"/>
              </a:spcBef>
              <a:defRPr sz="950">
                <a:solidFill>
                  <a:srgbClr val="8B9CB8"/>
                </a:solidFill>
                <a:latin typeface="Courier New"/>
              </a:defRPr>
            </a:pPr>
            <a:r>
              <a:t>   Role: Intelligence &amp; Cyber Officer  |  Dept: Cyber Crime Cell</a:t>
            </a:r>
            <a:br/>
            <a:r>
              <a:t>   Base: Command Control Center (PCR)</a:t>
            </a:r>
            <a:br/>
            <a:r>
              <a:t>   Demo Passcode: Intel@2026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2. Command Dashboard, Crime Analysis &amp; Most Wanted Criminals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4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6032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B9CB8"/>
                </a:solidFill>
                <a:latin typeface="Arial"/>
              </a:defRPr>
            </a:pPr>
            <a:r>
              <a:t>TOTAL INCIDENTS</a:t>
            </a:r>
          </a:p>
          <a:p>
            <a:pPr>
              <a:spcBef>
                <a:spcPts val="200"/>
              </a:spcBef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457</a:t>
            </a:r>
          </a:p>
          <a:p>
            <a:pPr>
              <a:spcBef>
                <a:spcPts val="2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Filtered Synthetic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554480"/>
            <a:ext cx="256032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6002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B9CB8"/>
                </a:solidFill>
                <a:latin typeface="Arial"/>
              </a:defRPr>
            </a:pPr>
            <a:r>
              <a:t>ACTIVE RISK ZONES</a:t>
            </a:r>
          </a:p>
          <a:p>
            <a:pPr>
              <a:spcBef>
                <a:spcPts val="200"/>
              </a:spcBef>
              <a:defRPr sz="2200" b="1">
                <a:solidFill>
                  <a:srgbClr val="EF4444"/>
                </a:solidFill>
                <a:latin typeface="Arial Black"/>
              </a:defRPr>
            </a:pPr>
            <a:r>
              <a:t>11</a:t>
            </a:r>
          </a:p>
          <a:p>
            <a:pPr>
              <a:spcBef>
                <a:spcPts val="2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Algorithmic Risk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56032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4" y="16002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B9CB8"/>
                </a:solidFill>
                <a:latin typeface="Arial"/>
              </a:defRPr>
            </a:pPr>
            <a:r>
              <a:t>POLICE STATIONS</a:t>
            </a:r>
          </a:p>
          <a:p>
            <a:pPr>
              <a:spcBef>
                <a:spcPts val="200"/>
              </a:spcBef>
              <a:defRPr sz="2200" b="1">
                <a:solidFill>
                  <a:srgbClr val="2563EB"/>
                </a:solidFill>
                <a:latin typeface="Arial Black"/>
              </a:defRPr>
            </a:pPr>
            <a:r>
              <a:t>11</a:t>
            </a:r>
          </a:p>
          <a:p>
            <a:pPr>
              <a:spcBef>
                <a:spcPts val="2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Fully Mapped Jurisdictions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554480"/>
            <a:ext cx="2560320" cy="1188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6" y="1600200"/>
            <a:ext cx="2377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8B9CB8"/>
                </a:solidFill>
                <a:latin typeface="Arial"/>
              </a:defRPr>
            </a:pPr>
            <a:r>
              <a:t>AVG RISK SCORE</a:t>
            </a:r>
          </a:p>
          <a:p>
            <a:pPr>
              <a:spcBef>
                <a:spcPts val="200"/>
              </a:spcBef>
              <a:defRPr sz="2200" b="1">
                <a:solidFill>
                  <a:srgbClr val="F59E0B"/>
                </a:solidFill>
                <a:latin typeface="Arial Black"/>
              </a:defRPr>
            </a:pPr>
            <a:r>
              <a:t>62 / 100</a:t>
            </a:r>
          </a:p>
          <a:p>
            <a:pPr>
              <a:spcBef>
                <a:spcPts val="2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Composite Threat Index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120640" cy="3474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175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rial"/>
              </a:defRPr>
            </a:pPr>
            <a:r>
              <a:t>CRIME ANALYSIS &amp; OPERATIONAL SITUATION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FBI Crime Data Explorer (CDE) Inspired Hero: Presents high-level metrics, historical trend velocity, and rapid filter links for senior officers.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Multi-Dimensional Breakdown: Tracking Theft (28%), Assault (19%), Burglary (15%), Fraud (11%), Vandalism, Drug Offenses and Cyber Crime.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Resolution Pipeline Surveillance: Real-time status monitoring across Closed (42%), Under Investigation (38%), and Reported (20%) incident queues.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Situational Watchlist: Auto-ranks localities experiencing acute escalation requiring immediate watch-commander intervention.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34747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t>🚨 HIGH-VALUE TARGETS &amp; MOST WANTED CRIMINALS</a:t>
            </a:r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[WANTED] RAJAN SELVAM (Alias: 'Bullet Raj')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Offense: Armed Robbery &amp; Hijacking | Area: Grand Bazaar Commercial Corridor</a:t>
            </a:r>
            <a:br/>
            <a:r>
              <a:t>  Status: Warrant: PY-2026-0412 • Red Notice • Armed &amp; Dangerous</a:t>
            </a:r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[WANTED] KARTHIK MURUGAN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Offense: Syndicate Cyber Fraud &amp; Ransomware | Area: Multi-Jurisdiction Inter-State</a:t>
            </a:r>
            <a:br/>
            <a:r>
              <a:t>  Status: Warrant: PY-2026-0389 • Cyber Crime Cell Watch</a:t>
            </a:r>
          </a:p>
          <a:p>
            <a:pPr>
              <a:spcBef>
                <a:spcPts val="1000"/>
              </a:spcBef>
              <a:defRPr sz="1050" b="1">
                <a:solidFill>
                  <a:srgbClr val="FFFFFF"/>
                </a:solidFill>
                <a:latin typeface="Arial"/>
              </a:defRPr>
            </a:pPr>
            <a:r>
              <a:t>[WANTED] PRIYA NATARAJAN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Offense: Commercial Narcotics Distribution | Area: East Division (Lawspet Hub)</a:t>
            </a:r>
            <a:br/>
            <a:r>
              <a:t>  Status: Warrant: PY-2026-0401 • NDPS Act • Immediate Intercept Order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3. Crime Trends &amp; Interactive Geospatial Intelligence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5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GEOSPATIAL LEAFLET GIS ENGINE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Centroid &amp; Boundary Overlay: Calibrated to Puducherry coordinates (11.9416° N, 79.8083° E) with boundary polygons and neighborhood shapes.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Tri-Tier Risk Zone Visualizer: Dynamic polygon fills demarcating High Risk (Red #ef4444), Medium Risk (Amber #f59e0b), and Low Risk (Green #22c55e) zones.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11 Police Station Beacons: Precise station markers with instant radius inspection, jurisdiction boundary highlights and route linking.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Live Patrol Vehicle Tracking: Animated GPS unit icons showing active patrol vehicles moving along deterministic crime-density vectors.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Interactive Incident Inspection: Click any incident pin to launch full bottom-sheet telemetry: time, crime type, severity badge, and police case notes.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Instant Incident Creation &amp; CRUD: Allows dispatch officers to pin and log new live CRM-YYYY-NNNN incidents directly on the map in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TEMPORAL TREND VELOCITY &amp; METRICS</a:t>
            </a:r>
          </a:p>
          <a:p>
            <a:pPr>
              <a:spcBef>
                <a:spcPts val="10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Historical Timeline Velocity: Monthly trend tracking showing seasonality, holiday spikes, and post-intervention dips across 12 operational cycles.</a:t>
            </a:r>
          </a:p>
          <a:p>
            <a:pPr>
              <a:spcBef>
                <a:spcPts val="10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Locality Density Ranking: Grand Bazaar (highest count, commercial density), Lawspet (residential surges), Muthialpet, and Villianur.</a:t>
            </a:r>
          </a:p>
          <a:p>
            <a:pPr>
              <a:spcBef>
                <a:spcPts val="10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Time-of-Day Risk Windows: Identifies peak crime windows (e.g., Grand Bazaar peak theft 18:00–22:00; Lawspet assaults 20:00–00:00).</a:t>
            </a:r>
          </a:p>
          <a:p>
            <a:pPr>
              <a:spcBef>
                <a:spcPts val="10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Dynamic Filter Pipeline: Instant slice-and-dice by Date Range, Area, Crime Category, Incident Severity, and Investigation Status.</a:t>
            </a:r>
          </a:p>
          <a:p>
            <a:pPr>
              <a:spcBef>
                <a:spcPts val="10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Repeat Incident Detection: Flags repeat offenders and recurring target addresses for special tactical watchlists.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4. Explainable Risk Zones &amp; Tactical Recommended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6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rial"/>
              </a:defRPr>
            </a:pPr>
            <a:r>
              <a:t>DETERMINISTIC 6-FACTOR RISK FORMULA (0–100)</a:t>
            </a:r>
          </a:p>
          <a:p>
            <a:pPr>
              <a:spcBef>
                <a:spcPts val="600"/>
              </a:spcBef>
              <a:defRPr sz="950">
                <a:solidFill>
                  <a:srgbClr val="8B9CB8"/>
                </a:solidFill>
                <a:latin typeface="Arial"/>
              </a:defRPr>
            </a:pPr>
            <a:r>
              <a:t>Unlike opaque black-box AI, CRIMEMAP's risk engine is 100% explainable, deterministic, and court-admissible:</a:t>
            </a:r>
          </a:p>
          <a:p>
            <a:pPr>
              <a:spcBef>
                <a:spcPts val="6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★ Incident Frequency (Weight: 30%): Baseline incident volume within the analytical observation window.</a:t>
            </a:r>
          </a:p>
          <a:p>
            <a:pPr>
              <a:spcBef>
                <a:spcPts val="6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★ Trend Velocity (Weight: 20%): Comparison against previous period (+/- percentage delta).</a:t>
            </a:r>
          </a:p>
          <a:p>
            <a:pPr>
              <a:spcBef>
                <a:spcPts val="6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★ Incident Severity (Weight: 15%): Penalty weight based on violent vs. property crime classifications.</a:t>
            </a:r>
          </a:p>
          <a:p>
            <a:pPr>
              <a:spcBef>
                <a:spcPts val="6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★ Repeat Locality Activity (Weight: 15%): Re-occurrence index for incidents within the same sub-grid.</a:t>
            </a:r>
          </a:p>
          <a:p>
            <a:pPr>
              <a:spcBef>
                <a:spcPts val="6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★ Time-of-Day Risk Density (Weight: 10%): Temporal concentration during active peak windows.</a:t>
            </a:r>
          </a:p>
          <a:p>
            <a:pPr>
              <a:spcBef>
                <a:spcPts val="6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★ Station Proximity Penalty (Weight: 10%): Buffer distance relative to the nearest police station response unit.</a:t>
            </a:r>
          </a:p>
          <a:p>
            <a:pPr>
              <a:spcBef>
                <a:spcPts val="800"/>
              </a:spcBef>
              <a:defRPr sz="900" b="1">
                <a:solidFill>
                  <a:srgbClr val="E0CA7A"/>
                </a:solidFill>
                <a:latin typeface="Courier New"/>
              </a:defRPr>
            </a:pPr>
            <a:r>
              <a:t>Thresholds: High Risk (Score &gt;= 75) | Medium Risk (55–74) | Low Risk (&lt; 55)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rial"/>
              </a:defRPr>
            </a:pPr>
            <a:r>
              <a:t>AUTOMATED DISPATCH RECOMMENDATIONS</a:t>
            </a:r>
          </a:p>
          <a:p>
            <a:pPr>
              <a:spcBef>
                <a:spcPts val="800"/>
              </a:spcBef>
              <a:defRPr sz="1000" b="1">
                <a:solidFill>
                  <a:srgbClr val="EF4444"/>
                </a:solidFill>
                <a:latin typeface="Arial"/>
              </a:defRPr>
            </a:pPr>
            <a:r>
              <a:t>● GRAND BAZAAR [Score: 82/100 • HIGH RISK]</a:t>
            </a:r>
          </a:p>
          <a:p>
            <a:pPr>
              <a:spcBef>
                <a:spcPts val="2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   Action: Deploy 2 dedicated units during 18:00–22:00 window. Heavy foot-patrol on commercial corridors. Coordinate merchant association CCTV coverage.</a:t>
            </a:r>
          </a:p>
          <a:p>
            <a:pPr>
              <a:spcBef>
                <a:spcPts val="8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● LAWSPET [Score: 67/100 • MEDIUM RISK]</a:t>
            </a:r>
          </a:p>
          <a:p>
            <a:pPr>
              <a:spcBef>
                <a:spcPts val="2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   Action: Deploy 1 patrol vehicle during 20:00–00:00. Focus on bar and public park perimeters. Anti-assault vehicle presence and checkpoint checks.</a:t>
            </a:r>
          </a:p>
          <a:p>
            <a:pPr>
              <a:spcBef>
                <a:spcPts val="8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● MUTHIALPET [Score: 59/100 • MEDIUM RISK]</a:t>
            </a:r>
          </a:p>
          <a:p>
            <a:pPr>
              <a:spcBef>
                <a:spcPts val="2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   Action: Pre-dawn perimeter sweeps (02:00–06:00). High-visibility flashing light deterrents to curb residential break-ins and burglaries.</a:t>
            </a:r>
          </a:p>
          <a:p>
            <a:pPr>
              <a:spcBef>
                <a:spcPts val="800"/>
              </a:spcBef>
              <a:defRPr sz="1000" b="1">
                <a:solidFill>
                  <a:srgbClr val="22C55E"/>
                </a:solidFill>
                <a:latin typeface="Arial"/>
              </a:defRPr>
            </a:pPr>
            <a:r>
              <a:t>● VILLIANUR [Score: 38/100 • LOW RISK]</a:t>
            </a:r>
          </a:p>
          <a:p>
            <a:pPr>
              <a:spcBef>
                <a:spcPts val="200"/>
              </a:spcBef>
              <a:defRPr sz="900">
                <a:solidFill>
                  <a:srgbClr val="C8D6E5"/>
                </a:solidFill>
                <a:latin typeface="Arial"/>
              </a:defRPr>
            </a:pPr>
            <a:r>
              <a:t>   Action: Routine perimeter patrol (14:00–18:00). Monitor bus depot and school routes during dismissal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5. Intelligence Module &amp; AI-Powered Query Assistant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7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POLICE NATURAL LANGUAGE INTELLIGENCE</a:t>
            </a:r>
          </a:p>
          <a:p>
            <a:pPr>
              <a:spcBef>
                <a:spcPts val="10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Conversational Investigation Assistant: Enables officers and watch commanders to ask plain-English questions regarding crime trends, suspects, and hot zones.</a:t>
            </a:r>
          </a:p>
          <a:p>
            <a:pPr>
              <a:spcBef>
                <a:spcPts val="10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Zero Hallucination - Rule-Grounded: Built with deterministic schema-aware handlers. Every response cites exact incident counts and underlying risk math.</a:t>
            </a:r>
          </a:p>
          <a:p>
            <a:pPr>
              <a:spcBef>
                <a:spcPts val="10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Suggested Operational Prompts: Pre-built prompts for 'Highest Risk Areas', 'Grand Bazaar Trends', 'Patrol Gaps', and 'Shift Briefing Summary'.</a:t>
            </a:r>
          </a:p>
          <a:p>
            <a:pPr>
              <a:spcBef>
                <a:spcPts val="10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Live Context Awareness: Automatically inherits the user's active area and date filters to answer specific operational questions.</a:t>
            </a:r>
          </a:p>
          <a:p>
            <a:pPr>
              <a:spcBef>
                <a:spcPts val="1000"/>
              </a:spcBef>
              <a:defRPr sz="1000">
                <a:solidFill>
                  <a:srgbClr val="C8D6E5"/>
                </a:solidFill>
                <a:latin typeface="Arial"/>
              </a:defRPr>
            </a:pPr>
            <a:r>
              <a:t>• Actionable Output Generation: Directly produces tactical dispatch recommendations that can be piped into patrol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LIVE QUERY DIALOGUE SAMPLE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▶ OFFICER INQUIRY: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What are the top 3 highest risk zones requiring immediate dispatch?</a:t>
            </a:r>
          </a:p>
          <a:p>
            <a:pPr>
              <a:spcBef>
                <a:spcPts val="1000"/>
              </a:spcBef>
              <a:defRPr sz="1000" b="1">
                <a:solidFill>
                  <a:srgbClr val="E0CA7A"/>
                </a:solidFill>
                <a:latin typeface="Arial"/>
              </a:defRPr>
            </a:pPr>
            <a:r>
              <a:t>▶ CRIMEMAP AI INTEL: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Analysis of 457 incidents indicates:</a:t>
            </a:r>
            <a:br/>
            <a:r>
              <a:t>1. Grand Bazaar (Risk: 82/100, High) - Dominant: Theft (Peak: 18:00-22:00)</a:t>
            </a:r>
            <a:br/>
            <a:r>
              <a:t>2. Lawspet (Risk: 67/100, Med) - Dominant: Assault (Peak: 20:00-00:00)</a:t>
            </a:r>
            <a:br/>
            <a:r>
              <a:t>3. Muthialpet (Risk: 59/100, Med) - Dominant: Burglary (Peak: 02:00-06:00)</a:t>
            </a:r>
            <a:br/>
            <a:r>
              <a:t>Recommendation: Prioritize Unit Alpha-1 and Bravo-2 to Grand Bazaar.</a:t>
            </a:r>
          </a:p>
          <a:p>
            <a:pPr>
              <a:spcBef>
                <a:spcPts val="1000"/>
              </a:spcBef>
              <a:defRPr sz="1000" b="1">
                <a:solidFill>
                  <a:srgbClr val="2563EB"/>
                </a:solidFill>
                <a:latin typeface="Arial"/>
              </a:defRPr>
            </a:pPr>
            <a:r>
              <a:t>▶ OFFICER INQUIRY: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Which patrol vehicles are currently available near Lawspet?</a:t>
            </a:r>
          </a:p>
          <a:p>
            <a:pPr>
              <a:spcBef>
                <a:spcPts val="1000"/>
              </a:spcBef>
              <a:defRPr sz="1000" b="1">
                <a:solidFill>
                  <a:srgbClr val="E0CA7A"/>
                </a:solidFill>
                <a:latin typeface="Arial"/>
              </a:defRPr>
            </a:pPr>
            <a:r>
              <a:t>▶ CRIMEMAP AI INTEL:</a:t>
            </a:r>
          </a:p>
          <a:p>
            <a:pPr>
              <a:spcBef>
                <a:spcPts val="200"/>
              </a:spcBef>
              <a:defRPr sz="950">
                <a:solidFill>
                  <a:srgbClr val="FFFFFF"/>
                </a:solidFill>
                <a:latin typeface="Arial"/>
              </a:defRPr>
            </a:pPr>
            <a:r>
              <a:t>Unit Bravo-2 is currently on station at East PS (0 min ETA to Lawspet). Unit Charlie-3 is actively patrolling Muthialpet perimeter (4 min ETA backup).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★ MOST IMPORTANT OPERATIONAL ENGINE 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6. Patrol Simulation &amp; Dynamic Unit Dispatch (CORE SYSTEM)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8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698480" cy="731520"/>
          </a:xfrm>
          <a:prstGeom prst="roundRect">
            <a:avLst/>
          </a:prstGeom>
          <a:solidFill>
            <a:srgbClr val="162D52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0CA7A"/>
                </a:solidFill>
                <a:latin typeface="Arial"/>
              </a:defRPr>
            </a:pPr>
            <a:r>
              <a:t>DETERMINISTIC MULTI-UNIT PATROL ENGINE: Guarantees full coverage of critical zones before secondary units are allocated.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338328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Arial"/>
              </a:defRPr>
            </a:pPr>
            <a:r>
              <a:t>ACTIVE SIMULATED FLEET (6 UNITS)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  <a:latin typeface="Arial"/>
              </a:defRPr>
            </a:pPr>
            <a:r>
              <a:t>🚔 ALPHA-1 - En Route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 Zone: Grand Bazaar (Central PS) | ETA: 8 min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  <a:latin typeface="Arial"/>
              </a:defRPr>
            </a:pPr>
            <a:r>
              <a:t>🚔 BRAVO-2 - On Station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 Zone: Lawspet (East PS) | ETA: 0 min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  <a:latin typeface="Arial"/>
              </a:defRPr>
            </a:pPr>
            <a:r>
              <a:t>🚔 CHARLIE-3 - Patrolling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 Zone: Muthialpet (East PS) | ETA: 4 min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  <a:latin typeface="Arial"/>
              </a:defRPr>
            </a:pPr>
            <a:r>
              <a:t>🚔 DELTA-4 - En Route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 Zone: Villianur (West PS) | ETA: 12 min</a:t>
            </a:r>
          </a:p>
          <a:p>
            <a:pPr>
              <a:spcBef>
                <a:spcPts val="600"/>
              </a:spcBef>
              <a:defRPr sz="1000" b="1">
                <a:solidFill>
                  <a:srgbClr val="22C55E"/>
                </a:solidFill>
                <a:latin typeface="Arial"/>
              </a:defRPr>
            </a:pPr>
            <a:r>
              <a:t>🚔 ECHO-5 - Dispatched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 Zone: Reddiarpalayam | ETA: 6 min</a:t>
            </a:r>
          </a:p>
          <a:p>
            <a:pPr>
              <a:spcBef>
                <a:spcPts val="600"/>
              </a:spcBef>
              <a:defRPr sz="1000" b="1">
                <a:solidFill>
                  <a:srgbClr val="8B9CB8"/>
                </a:solidFill>
                <a:latin typeface="Arial"/>
              </a:defRPr>
            </a:pPr>
            <a:r>
              <a:t>🚔 FOXTROT-6 - Standby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 Zone: Ariyankuppam | ETA: 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31720"/>
            <a:ext cx="338328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Arial"/>
              </a:defRPr>
            </a:pPr>
            <a:r>
              <a:t>ROUND-ROBIN DISPATCH QUEUE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• #1 Priority: Grand Bazaar</a:t>
            </a:r>
          </a:p>
          <a:p>
            <a:pPr>
              <a:spcBef>
                <a:spcPts val="100"/>
              </a:spcBef>
              <a:defRPr sz="850">
                <a:solidFill>
                  <a:srgbClr val="8B9CB8"/>
                </a:solidFill>
                <a:latin typeface="Arial"/>
              </a:defRPr>
            </a:pPr>
            <a:r>
              <a:t>  Highest composite threat score (82/100). Receives primary unit guarantee.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• #2 Priority: Lawspet</a:t>
            </a:r>
          </a:p>
          <a:p>
            <a:pPr>
              <a:spcBef>
                <a:spcPts val="100"/>
              </a:spcBef>
              <a:defRPr sz="850">
                <a:solidFill>
                  <a:srgbClr val="8B9CB8"/>
                </a:solidFill>
                <a:latin typeface="Arial"/>
              </a:defRPr>
            </a:pPr>
            <a:r>
              <a:t>  Escalating trend and active assault cluster. Assigned secondary tactical unit.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• #3 Priority: Muthialpet</a:t>
            </a:r>
          </a:p>
          <a:p>
            <a:pPr>
              <a:spcBef>
                <a:spcPts val="100"/>
              </a:spcBef>
              <a:defRPr sz="850">
                <a:solidFill>
                  <a:srgbClr val="8B9CB8"/>
                </a:solidFill>
                <a:latin typeface="Arial"/>
              </a:defRPr>
            </a:pPr>
            <a:r>
              <a:t>  Early morning burglary vulnerability. Scheduled rotational sweep.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• #4 Priority: Villianur</a:t>
            </a:r>
          </a:p>
          <a:p>
            <a:pPr>
              <a:spcBef>
                <a:spcPts val="100"/>
              </a:spcBef>
              <a:defRPr sz="850">
                <a:solidFill>
                  <a:srgbClr val="8B9CB8"/>
                </a:solidFill>
                <a:latin typeface="Arial"/>
              </a:defRPr>
            </a:pPr>
            <a:r>
              <a:t>  Covered via West Division interceptor unit.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• Zero Starvation Rule</a:t>
            </a:r>
          </a:p>
          <a:p>
            <a:pPr>
              <a:spcBef>
                <a:spcPts val="100"/>
              </a:spcBef>
              <a:defRPr sz="850">
                <a:solidFill>
                  <a:srgbClr val="8B9CB8"/>
                </a:solidFill>
                <a:latin typeface="Arial"/>
              </a:defRPr>
            </a:pPr>
            <a:r>
              <a:t>  Every high-priority risk zone receives coverage before any zone is assigned a second unit.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31720"/>
            <a:ext cx="3383280" cy="41148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42316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A84C"/>
                </a:solidFill>
                <a:latin typeface="Arial"/>
              </a:defRPr>
            </a:pPr>
            <a:r>
              <a:t>SIMULATION SPECS &amp; CONTROLS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★ Speed Multipliers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Adjustable from 0.25x, 0.5x, 1.0x, 2.0x to 3.0x realtime.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★ Refresh Dynamics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Smooth animation calculated at ~4 Hz tick frequency.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★ Deterministic Velocity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Patrol vehicles cruise at an average 24 km/h response speed.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★ Simulation Actions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One-click 'Run Simulation', 'Pause Simulation', and 'Reset' controls.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Arial"/>
              </a:defRPr>
            </a:pPr>
            <a:r>
              <a:t>★ Operational Integrity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Arial"/>
              </a:defRPr>
            </a:pPr>
            <a:r>
              <a:t>  Explicitly labeled 'DEMO SIMULATION' to maintain strict evidence standard.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7. Police Stations Registry &amp; Territorial Jurisdiction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9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069848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9A84C"/>
                </a:solidFill>
                <a:latin typeface="Arial"/>
              </a:defRPr>
            </a:pPr>
            <a:r>
              <a:t>11 OPERATIONAL POLICE STATIONS ACROSS PUDUCHERRY</a:t>
            </a:r>
          </a:p>
          <a:p>
            <a:pPr>
              <a:spcBef>
                <a:spcPts val="400"/>
              </a:spcBef>
              <a:defRPr sz="950">
                <a:solidFill>
                  <a:srgbClr val="8B9CB8"/>
                </a:solidFill>
                <a:latin typeface="Arial"/>
              </a:defRPr>
            </a:pPr>
            <a:r>
              <a:t>Each station features registered GPS coordinates, specific sub-jurisdictions, and one-click 'Show on Map' navigation: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[PS-001] Grand Bazaar Police Station  |  Area: Grand Bazaar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Grand Bazaar, Vysial Street, Rangapillai, Heritage Quarter   |   GPS: 11.9340° N, 79.8310° 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[PS-002] Lawspet Police Station  |  Area: Lawspet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Lawspet, Anna Nagar, Botanical Garden, Airport Road   |   GPS: 11.9650° N, 79.8130° 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[PS-003] Villianur Police Station  |  Area: Villianur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Villianur, Manapet, Thiruvandar Koil, Rural Outskirts   |   GPS: 11.9230° N, 79.7750° 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[PS-004] Ariyankuppam Police Station  |  Area: Ariyankuppam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Ariyankuppam, Thavalakuppam, Coastal Enclaves   |   GPS: 11.9050° N, 79.8270° 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[PS-005] Muthialpet Police Station  |  Area: Muthialpet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Muthialpet, White Town, Promenade Beach Road   |   GPS: 11.9370° N, 79.8380° 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[PS-006] Reddiarpalayam Police Station  |  Area: Reddiarpalayam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Reddiarpalayam, Nellithope, Commercial Ring Road   |   GPS: 11.9470° N, 79.8050° E</a:t>
            </a:r>
          </a:p>
          <a:p>
            <a:pPr>
              <a:spcBef>
                <a:spcPts val="6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• [PS-007] Orleanpet Police Station  |  Area: Orleanpet</a:t>
            </a:r>
          </a:p>
          <a:p>
            <a:pPr>
              <a:spcBef>
                <a:spcPts val="100"/>
              </a:spcBef>
              <a:defRPr sz="850">
                <a:solidFill>
                  <a:srgbClr val="C8D6E5"/>
                </a:solidFill>
                <a:latin typeface="Courier New"/>
              </a:defRPr>
            </a:pPr>
            <a:r>
              <a:t>    Jurisdiction: Bus Stand Corridor, Maraimalai Adigal Salai   |   GPS: 11.9300° N, 79.8180° 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9A84C"/>
                </a:solidFill>
                <a:latin typeface="Arial"/>
              </a:defRPr>
            </a:pPr>
            <a:r>
              <a:t>PUDUCHERRY POLICE • CRIME INTELLIGENCE DIVISION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8. Reports, Verification &amp; Data Export (PDF, CSV)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6459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3657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8B9CB8"/>
                </a:solidFill>
                <a:latin typeface="Arial"/>
              </a:defRPr>
            </a:pPr>
            <a:r>
              <a:t>SLIDE 10 | crimemapp.vercel.app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OFFICIAL AUDIT &amp; EXPORT CAPABILITIES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Filter-Compliant CSV Exports: All exports strictly honor active filters (locality, crime category, date range, status).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Incidents CSV Export: Full 457-record dataset with timestamp, GPS coordinates, category, severity index, and case status.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Risk Zones CSV Export: Outputs zone IDs, composite risk scores (0–100), trend deltas, peak windows, and emerging flags.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Change Signals CSV Export: Logs sudden surges, emerging hotspots, and statistical shifts for administrative review.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Stations CSV Export: Complete database of police stations, jurisdictions, and coordinates.</a:t>
            </a:r>
          </a:p>
          <a:p>
            <a:pPr>
              <a:spcBef>
                <a:spcPts val="800"/>
              </a:spcBef>
              <a:defRPr sz="950">
                <a:solidFill>
                  <a:srgbClr val="C8D6E5"/>
                </a:solidFill>
                <a:latin typeface="Arial"/>
              </a:defRPr>
            </a:pPr>
            <a:r>
              <a:t>• Browser Print / PDF Generation: Official print stylesheet designed for executive briefings and shift-change intelligence handovers.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16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9A84C"/>
                </a:solidFill>
                <a:latin typeface="Arial"/>
              </a:defRPr>
            </a:pPr>
            <a:r>
              <a:t>VERIFICATION &amp; POLICE REPORT SUMMARY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★ Executive Briefing Cards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Instant visual totals: Total Incidents (457), Active Risk Zones (11), Average Risk Score (62/100).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★ Top Crime Category Breakdown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Theft: 128 (28%) | Assault: 89 (19%) | Burglary: 67 (15%) | Fraud: 52 (11%).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★ Explainable Score Cards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Each zone report includes full 6-factor weight breakdown so officers know exactly why a zone is flagged.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  <a:latin typeface="Arial"/>
              </a:defRPr>
            </a:pPr>
            <a:r>
              <a:t>★ Filtered Incident Records Table</a:t>
            </a:r>
          </a:p>
          <a:p>
            <a:pPr>
              <a:spcBef>
                <a:spcPts val="200"/>
              </a:spcBef>
              <a:defRPr sz="900">
                <a:solidFill>
                  <a:srgbClr val="8B9CB8"/>
                </a:solidFill>
                <a:latin typeface="Arial"/>
              </a:defRPr>
            </a:pPr>
            <a:r>
              <a:t>  Interactive paginated table with real-time status badges, severity tags, and incident timestamps.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0F1F3D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89711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C9A84C"/>
                </a:solidFill>
                <a:latin typeface="Arial"/>
              </a:defRPr>
            </a:pPr>
            <a:r>
              <a:t>PUDUCHERRY POLICE DEPARTMENT</a:t>
            </a:r>
          </a:p>
          <a:p>
            <a:pPr algn="ctr">
              <a:spcBef>
                <a:spcPts val="1000"/>
              </a:spcBef>
              <a:defRPr sz="3000" b="1">
                <a:solidFill>
                  <a:srgbClr val="FFFFFF"/>
                </a:solidFill>
                <a:latin typeface="Arial Black"/>
              </a:defRPr>
            </a:pPr>
            <a:r>
              <a:t>Intelligence-Led Policing for a Safer Tomorrow</a:t>
            </a:r>
          </a:p>
          <a:p>
            <a:pPr algn="ctr">
              <a:spcBef>
                <a:spcPts val="1400"/>
              </a:spcBef>
              <a:defRPr sz="1300">
                <a:solidFill>
                  <a:srgbClr val="C8D6E5"/>
                </a:solidFill>
                <a:latin typeface="Arial"/>
              </a:defRPr>
            </a:pPr>
            <a:r>
              <a:t>CRIMEMAP delivers explainable, transparent, and operational decision-support for patrol officers, detectives, and command leadership.</a:t>
            </a:r>
          </a:p>
          <a:p>
            <a:pPr algn="ctr">
              <a:spcBef>
                <a:spcPts val="2400"/>
              </a:spcBef>
              <a:defRPr sz="1200" b="1">
                <a:solidFill>
                  <a:srgbClr val="2563EB"/>
                </a:solidFill>
                <a:latin typeface="Courier New"/>
              </a:defRPr>
            </a:pPr>
            <a:r>
              <a:t>🌐 Live Application: https://crimemapp.vercel.app/</a:t>
            </a:r>
            <a:br/>
            <a:r>
              <a:t>💻 Local Development: http://localhost:5173/</a:t>
            </a:r>
            <a:br/>
            <a:r>
              <a:t>📁 GitHub Source: https://github.com/gowvas1234-dev/crimemap</a:t>
            </a:r>
          </a:p>
          <a:p>
            <a:pPr algn="ctr">
              <a:spcBef>
                <a:spcPts val="2400"/>
              </a:spcBef>
              <a:defRPr sz="1100" b="1">
                <a:solidFill>
                  <a:srgbClr val="E0CA7A"/>
                </a:solidFill>
                <a:latin typeface="Arial"/>
              </a:defRPr>
            </a:pPr>
            <a:r>
              <a:t>Designed &amp; Engineered for Law Enforcement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